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0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914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13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27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74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49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83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11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67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82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7796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744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6101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97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519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3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23886-4D52-4C8B-A3CA-83F39828A7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5781CA8-9EE1-4A1E-8038-5560149C9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D9F833E-B327-6113-1D6B-28FEE1115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63" y="2044005"/>
            <a:ext cx="108669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 Case Study Analysis: Moderna, Inc. &amp; The mRNA Technology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Subtitle: Pioneering Next-Generation Transgenics and Synthetic Therapeutics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Artifact: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CodeAlpha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Biotechnology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Intenship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Task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9C845-B64D-98EF-4732-22BA39725501}"/>
              </a:ext>
            </a:extLst>
          </p:cNvPr>
          <p:cNvSpPr txBox="1"/>
          <p:nvPr/>
        </p:nvSpPr>
        <p:spPr>
          <a:xfrm>
            <a:off x="3043814" y="808446"/>
            <a:ext cx="6104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Arial Black" panose="020B0A04020102020204" pitchFamily="34" charset="0"/>
              </a:rPr>
              <a:t>Title Slide</a:t>
            </a:r>
          </a:p>
        </p:txBody>
      </p:sp>
    </p:spTree>
    <p:extLst>
      <p:ext uri="{BB962C8B-B14F-4D97-AF65-F5344CB8AC3E}">
        <p14:creationId xmlns:p14="http://schemas.microsoft.com/office/powerpoint/2010/main" val="434768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BDA698-9F29-7E53-81D1-446F541485D9}"/>
              </a:ext>
            </a:extLst>
          </p:cNvPr>
          <p:cNvSpPr txBox="1"/>
          <p:nvPr/>
        </p:nvSpPr>
        <p:spPr>
          <a:xfrm>
            <a:off x="2005781" y="2415796"/>
            <a:ext cx="75020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Company Name:</a:t>
            </a:r>
            <a:r>
              <a:rPr lang="en-IN" dirty="0"/>
              <a:t> Moderna, Inc. (Modified RNA)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Founded:</a:t>
            </a:r>
            <a:r>
              <a:rPr lang="en-IN" dirty="0"/>
              <a:t> 2010 (Cambridge, Massachusetts)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Core Philosophy:</a:t>
            </a:r>
            <a:r>
              <a:rPr lang="en-IN" dirty="0"/>
              <a:t> Treating Messenger RNA (mRNA) as an operating system. Instead of injecting a foreign protein, instruct patient cells to manufacture their own therapeutic proteins internally.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FA72C-CBDD-CBF7-6291-5AA061AA7D65}"/>
              </a:ext>
            </a:extLst>
          </p:cNvPr>
          <p:cNvSpPr txBox="1"/>
          <p:nvPr/>
        </p:nvSpPr>
        <p:spPr>
          <a:xfrm>
            <a:off x="3296264" y="1594973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Executive Corporate Profile</a:t>
            </a:r>
          </a:p>
        </p:txBody>
      </p:sp>
    </p:spTree>
    <p:extLst>
      <p:ext uri="{BB962C8B-B14F-4D97-AF65-F5344CB8AC3E}">
        <p14:creationId xmlns:p14="http://schemas.microsoft.com/office/powerpoint/2010/main" val="195906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9EEA85-83D2-DED3-696D-84026558CE89}"/>
              </a:ext>
            </a:extLst>
          </p:cNvPr>
          <p:cNvSpPr txBox="1"/>
          <p:nvPr/>
        </p:nvSpPr>
        <p:spPr>
          <a:xfrm>
            <a:off x="1799303" y="2807390"/>
            <a:ext cx="77576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Technology:</a:t>
            </a:r>
            <a:r>
              <a:rPr lang="en-IN" dirty="0"/>
              <a:t> Nucleoside-modified Messenger RNA (modRNA).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Bypassing Innate Immunity:</a:t>
            </a:r>
            <a:r>
              <a:rPr lang="en-IN" dirty="0"/>
              <a:t> Unmodified synthetic mRNA triggers an immediate destructive immune response via Toll-like receptors (TLRs). Moderna replaced uridine with </a:t>
            </a:r>
            <a:r>
              <a:rPr lang="en-IN" b="1" dirty="0"/>
              <a:t>N1-methylpseudouridine</a:t>
            </a:r>
            <a:r>
              <a:rPr lang="en-IN" dirty="0"/>
              <a:t>, allowing synthetic mRNA to slip past cellular surveillance completely undetected.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23DF1-AA80-5083-9917-44CA3D432699}"/>
              </a:ext>
            </a:extLst>
          </p:cNvPr>
          <p:cNvSpPr txBox="1"/>
          <p:nvPr/>
        </p:nvSpPr>
        <p:spPr>
          <a:xfrm>
            <a:off x="2912806" y="1211514"/>
            <a:ext cx="6100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The Core Biotechnology Innovation</a:t>
            </a:r>
          </a:p>
        </p:txBody>
      </p:sp>
    </p:spTree>
    <p:extLst>
      <p:ext uri="{BB962C8B-B14F-4D97-AF65-F5344CB8AC3E}">
        <p14:creationId xmlns:p14="http://schemas.microsoft.com/office/powerpoint/2010/main" val="4230337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57A27A-C22D-A8ED-759F-9A159A12CDEE}"/>
              </a:ext>
            </a:extLst>
          </p:cNvPr>
          <p:cNvSpPr txBox="1"/>
          <p:nvPr/>
        </p:nvSpPr>
        <p:spPr>
          <a:xfrm>
            <a:off x="1229032" y="2428762"/>
            <a:ext cx="86032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The Challenge:</a:t>
            </a:r>
            <a:r>
              <a:rPr lang="en-IN" dirty="0"/>
              <a:t> Raw mRNA is large, negatively charged, highly unstable, and instantly degraded by extracellular RNase enzymes.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The LNP Shield:</a:t>
            </a:r>
            <a:r>
              <a:rPr lang="en-IN" dirty="0"/>
              <a:t> Encapsulation within a four-lipid matrix: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Ionizable Lipids:</a:t>
            </a:r>
            <a:r>
              <a:rPr lang="en-IN" dirty="0"/>
              <a:t> Positively charged in acidic endosomes to trigger cellular release.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PEGylated Lipids:</a:t>
            </a:r>
            <a:r>
              <a:rPr lang="en-IN" dirty="0"/>
              <a:t> Prevent particle aggregation in circulation.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Cholesterol &amp; Distearoylphosphatidylcholine (DSPC):</a:t>
            </a:r>
            <a:r>
              <a:rPr lang="en-IN" dirty="0"/>
              <a:t> Provide structural stability.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E89905-15BC-03EC-1EC8-70D1428B2DFE}"/>
              </a:ext>
            </a:extLst>
          </p:cNvPr>
          <p:cNvSpPr txBox="1"/>
          <p:nvPr/>
        </p:nvSpPr>
        <p:spPr>
          <a:xfrm>
            <a:off x="2204884" y="896882"/>
            <a:ext cx="6100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The Delivery Breakthrough: Lipid Nanoparticles (LNPs)</a:t>
            </a:r>
          </a:p>
        </p:txBody>
      </p:sp>
    </p:spTree>
    <p:extLst>
      <p:ext uri="{BB962C8B-B14F-4D97-AF65-F5344CB8AC3E}">
        <p14:creationId xmlns:p14="http://schemas.microsoft.com/office/powerpoint/2010/main" val="354388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06FE33-ADC6-9790-B809-B3973E9B5006}"/>
              </a:ext>
            </a:extLst>
          </p:cNvPr>
          <p:cNvSpPr txBox="1"/>
          <p:nvPr/>
        </p:nvSpPr>
        <p:spPr>
          <a:xfrm>
            <a:off x="658761" y="2060138"/>
            <a:ext cx="87310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/>
              <a:t>Indication:</a:t>
            </a:r>
            <a:r>
              <a:rPr lang="en-IN" sz="2000"/>
              <a:t> Accelerated vaccination protection against SARS-CoV-2.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/>
              <a:t>Mechanism:</a:t>
            </a:r>
            <a:r>
              <a:rPr lang="en-IN" sz="2000"/>
              <a:t> Delivers genetic sequences encoding the prefusion-stabilized spike protein of the virus.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/>
              <a:t>Impact:</a:t>
            </a:r>
            <a:r>
              <a:rPr lang="en-IN" sz="2000"/>
              <a:t> Progressed from viral sequence identification to Phase 1 clinical testing in an unprecedented 63 days, demonstrating a 94.1% clinical efficacy rate in initial trials.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EC8BA-7C8F-CD06-B410-4BC3D613ED9D}"/>
              </a:ext>
            </a:extLst>
          </p:cNvPr>
          <p:cNvSpPr txBox="1"/>
          <p:nvPr/>
        </p:nvSpPr>
        <p:spPr>
          <a:xfrm>
            <a:off x="2165555" y="769063"/>
            <a:ext cx="6100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Flagship Product Focus — Spikevax (mRNA-1273)</a:t>
            </a:r>
          </a:p>
        </p:txBody>
      </p:sp>
    </p:spTree>
    <p:extLst>
      <p:ext uri="{BB962C8B-B14F-4D97-AF65-F5344CB8AC3E}">
        <p14:creationId xmlns:p14="http://schemas.microsoft.com/office/powerpoint/2010/main" val="1845931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BBD0D9-7D26-1E54-04E3-3CFA159539CB}"/>
              </a:ext>
            </a:extLst>
          </p:cNvPr>
          <p:cNvSpPr txBox="1"/>
          <p:nvPr/>
        </p:nvSpPr>
        <p:spPr>
          <a:xfrm>
            <a:off x="1602658" y="2277296"/>
            <a:ext cx="75487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Financial Scale:</a:t>
            </a:r>
            <a:r>
              <a:rPr lang="en-IN" dirty="0"/>
              <a:t> Transitioned from a pre-revenue R&amp;D firm to generating over $18 billion in global biological product sales at its peak pandemic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Valuation &amp; Scale:</a:t>
            </a:r>
            <a:r>
              <a:rPr lang="en-IN" dirty="0"/>
              <a:t> Propelled mRNA technology from an unproven concept into a multi-billion dollar biotechnology market sector, accelerating global venture capital flows into genetic engineering.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D8C5D-937F-DA1A-1E2D-856BA820CC9B}"/>
              </a:ext>
            </a:extLst>
          </p:cNvPr>
          <p:cNvSpPr txBox="1"/>
          <p:nvPr/>
        </p:nvSpPr>
        <p:spPr>
          <a:xfrm>
            <a:off x="2326558" y="1132857"/>
            <a:ext cx="6100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Industrial &amp; Global Market Impact</a:t>
            </a:r>
          </a:p>
        </p:txBody>
      </p:sp>
    </p:spTree>
    <p:extLst>
      <p:ext uri="{BB962C8B-B14F-4D97-AF65-F5344CB8AC3E}">
        <p14:creationId xmlns:p14="http://schemas.microsoft.com/office/powerpoint/2010/main" val="379145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BA5700-4BD0-B592-613C-7CED23605CE1}"/>
              </a:ext>
            </a:extLst>
          </p:cNvPr>
          <p:cNvSpPr txBox="1"/>
          <p:nvPr/>
        </p:nvSpPr>
        <p:spPr>
          <a:xfrm>
            <a:off x="1189703" y="2277296"/>
            <a:ext cx="79616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Oncology:</a:t>
            </a:r>
            <a:r>
              <a:rPr lang="en-IN" sz="2000" dirty="0"/>
              <a:t> Personalized Cancer Vaccines (mRNA-4157), custom-tailored to a patient's unique </a:t>
            </a:r>
            <a:r>
              <a:rPr lang="en-IN" sz="2000" dirty="0" err="1"/>
              <a:t>tumor</a:t>
            </a:r>
            <a:r>
              <a:rPr lang="en-IN" sz="2000" dirty="0"/>
              <a:t> mutational profile to train T-cells.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Rare Diseases:</a:t>
            </a:r>
            <a:r>
              <a:rPr lang="en-IN" sz="2000" dirty="0"/>
              <a:t> Intracellular protein replacement therapies for Propionic </a:t>
            </a:r>
            <a:r>
              <a:rPr lang="en-IN" sz="2000" dirty="0" err="1"/>
              <a:t>Acidemia</a:t>
            </a:r>
            <a:r>
              <a:rPr lang="en-IN" sz="2000" dirty="0"/>
              <a:t> (mRNA-3929).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Latent Viruses:</a:t>
            </a:r>
            <a:r>
              <a:rPr lang="en-IN" sz="2000" dirty="0"/>
              <a:t> Prophylactic vaccines targeting Cytomegalovirus (CMV) and Epstein-Barr Virus (EBV).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15D9A-45C7-8A02-40F3-619560ECAAED}"/>
              </a:ext>
            </a:extLst>
          </p:cNvPr>
          <p:cNvSpPr txBox="1"/>
          <p:nvPr/>
        </p:nvSpPr>
        <p:spPr>
          <a:xfrm>
            <a:off x="2372033" y="877217"/>
            <a:ext cx="6100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Current Therapeutic Pipeline Focus</a:t>
            </a:r>
          </a:p>
        </p:txBody>
      </p:sp>
    </p:spTree>
    <p:extLst>
      <p:ext uri="{BB962C8B-B14F-4D97-AF65-F5344CB8AC3E}">
        <p14:creationId xmlns:p14="http://schemas.microsoft.com/office/powerpoint/2010/main" val="210535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51D796-301B-3A79-0C78-029AB859FDA8}"/>
              </a:ext>
            </a:extLst>
          </p:cNvPr>
          <p:cNvSpPr txBox="1"/>
          <p:nvPr/>
        </p:nvSpPr>
        <p:spPr>
          <a:xfrm>
            <a:off x="2372032" y="719902"/>
            <a:ext cx="6100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Technical Limitations &amp; Structural Challenges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D4B7E8B-99B5-FF9E-76D3-2D3898D3C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68" y="2204601"/>
            <a:ext cx="10186219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Cold-Chain Dependency: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mRNA-LNP complexes degrade if exposed to room temperatures,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requiring expensive ultra-low temperature freezers ($-20^\circ\text{C}$ to $-50^\circ\text{C}$) for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Transient Expression: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mRNA does not integrate into the genome; it degrades naturally within days, requiring repeated dosing for chronic disease therapies.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84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EEF570-5352-F7EE-B0C8-65C00D61C794}"/>
              </a:ext>
            </a:extLst>
          </p:cNvPr>
          <p:cNvSpPr txBox="1"/>
          <p:nvPr/>
        </p:nvSpPr>
        <p:spPr>
          <a:xfrm>
            <a:off x="1199535" y="2138797"/>
            <a:ext cx="79518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Strengths:</a:t>
            </a:r>
            <a:r>
              <a:rPr lang="en-IN" dirty="0"/>
              <a:t> Rapid, cell-free sequence-to-vaccine manufacturing pipelines.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Weaknesses:</a:t>
            </a:r>
            <a:r>
              <a:rPr lang="en-IN" dirty="0"/>
              <a:t> Ongoing delivery limitations outside the liver and immune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Opportunities:</a:t>
            </a:r>
            <a:r>
              <a:rPr lang="en-IN" dirty="0"/>
              <a:t> Disrupting traditional protein-based pharmaceutical drugs.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Threats:</a:t>
            </a:r>
            <a:r>
              <a:rPr lang="en-IN" dirty="0"/>
              <a:t> Severe intellectual property litigation regarding core LNP delivery patents.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43F97-B756-73A8-4F99-5C7579D862B7}"/>
              </a:ext>
            </a:extLst>
          </p:cNvPr>
          <p:cNvSpPr txBox="1"/>
          <p:nvPr/>
        </p:nvSpPr>
        <p:spPr>
          <a:xfrm>
            <a:off x="2499851" y="847721"/>
            <a:ext cx="61009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Strategic Operational SWOT Analysis</a:t>
            </a:r>
          </a:p>
        </p:txBody>
      </p:sp>
    </p:spTree>
    <p:extLst>
      <p:ext uri="{BB962C8B-B14F-4D97-AF65-F5344CB8AC3E}">
        <p14:creationId xmlns:p14="http://schemas.microsoft.com/office/powerpoint/2010/main" val="257002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CDCFD6-B307-23AF-7E5E-FC1C4755C8A6}"/>
              </a:ext>
            </a:extLst>
          </p:cNvPr>
          <p:cNvSpPr txBox="1"/>
          <p:nvPr/>
        </p:nvSpPr>
        <p:spPr>
          <a:xfrm>
            <a:off x="1209368" y="2415796"/>
            <a:ext cx="79420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The Shift:</a:t>
            </a:r>
            <a:r>
              <a:rPr lang="en-IN" dirty="0"/>
              <a:t> Moderna has successfully proven that digital genetic sequence code can be rapidly translated into physical medicine.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Legacy:</a:t>
            </a:r>
            <a:r>
              <a:rPr lang="en-IN" dirty="0"/>
              <a:t> The future of therapeutics is transitioning from complex protein manufacturing toward programmable, synthetic mRNA therapeutics.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A77F4-AE84-A61B-E2DE-25BD33BEBC95}"/>
              </a:ext>
            </a:extLst>
          </p:cNvPr>
          <p:cNvSpPr txBox="1"/>
          <p:nvPr/>
        </p:nvSpPr>
        <p:spPr>
          <a:xfrm>
            <a:off x="2519516" y="1054198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Conclusion &amp; Future Outlook</a:t>
            </a:r>
          </a:p>
        </p:txBody>
      </p:sp>
    </p:spTree>
    <p:extLst>
      <p:ext uri="{BB962C8B-B14F-4D97-AF65-F5344CB8AC3E}">
        <p14:creationId xmlns:p14="http://schemas.microsoft.com/office/powerpoint/2010/main" val="14941583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539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Google Sans Text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jainmitushi988@gmail.com</dc:creator>
  <cp:lastModifiedBy>jainmitushi988@gmail.com</cp:lastModifiedBy>
  <cp:revision>1</cp:revision>
  <dcterms:created xsi:type="dcterms:W3CDTF">2026-06-03T14:03:52Z</dcterms:created>
  <dcterms:modified xsi:type="dcterms:W3CDTF">2026-06-03T14:42:59Z</dcterms:modified>
</cp:coreProperties>
</file>